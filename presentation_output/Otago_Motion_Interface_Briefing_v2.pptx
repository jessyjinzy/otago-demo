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077df8d5774fc8" /><Relationship Type="http://schemas.openxmlformats.org/officeDocument/2006/relationships/extended-properties" Target="/docProps/app.xml" Id="R87cac2eda9ec4817" /><Relationship Type="http://schemas.openxmlformats.org/officeDocument/2006/relationships/officeDocument" Target="/ppt/presentation.xml" Id="Rf10fe81806d64c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6c1f5fcfc44ff7"/>
  </p:sldMasterIdLst>
  <p:notesMasterIdLst>
    <p:notesMasterId xmlns:r="http://schemas.openxmlformats.org/officeDocument/2006/relationships" r:id="R7624303706804d11"/>
  </p:notesMasterIdLst>
  <p:sldIdLst>
    <p:sldId xmlns:r="http://schemas.openxmlformats.org/officeDocument/2006/relationships" id="256" r:id="R5fdab9d739a341f6"/>
    <p:sldId xmlns:r="http://schemas.openxmlformats.org/officeDocument/2006/relationships" id="257" r:id="R4247488f9d1945a3"/>
    <p:sldId xmlns:r="http://schemas.openxmlformats.org/officeDocument/2006/relationships" id="258" r:id="R383279ed21ab4a45"/>
    <p:sldId xmlns:r="http://schemas.openxmlformats.org/officeDocument/2006/relationships" id="259" r:id="Rd11e35a5ba5a4eec"/>
    <p:sldId xmlns:r="http://schemas.openxmlformats.org/officeDocument/2006/relationships" id="260" r:id="R538e352baef94d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c868aaac164254" /><Relationship Type="http://schemas.openxmlformats.org/officeDocument/2006/relationships/slideMaster" Target="/ppt/slideMasters/slideMaster1.xml" Id="Rba6c1f5fcfc44ff7" /><Relationship Type="http://schemas.openxmlformats.org/officeDocument/2006/relationships/notesMaster" Target="/ppt/notesMasters/notesMaster1.xml" Id="R7624303706804d11" /><Relationship Type="http://schemas.openxmlformats.org/officeDocument/2006/relationships/presProps" Target="/ppt/presProps.xml" Id="Rfed467ed559c4fa9" /><Relationship Type="http://schemas.openxmlformats.org/officeDocument/2006/relationships/tableStyles" Target="/ppt/tableStyles.xml" Id="Rff6c04d74dad4e20" /><Relationship Type="http://schemas.openxmlformats.org/officeDocument/2006/relationships/slide" Target="/ppt/slides/slide1.xml" Id="R5fdab9d739a341f6" /><Relationship Type="http://schemas.openxmlformats.org/officeDocument/2006/relationships/slide" Target="/ppt/slides/slide2.xml" Id="R4247488f9d1945a3" /><Relationship Type="http://schemas.openxmlformats.org/officeDocument/2006/relationships/slide" Target="/ppt/slides/slide3.xml" Id="R383279ed21ab4a45" /><Relationship Type="http://schemas.openxmlformats.org/officeDocument/2006/relationships/slide" Target="/ppt/slides/slide4.xml" Id="Rd11e35a5ba5a4eec" /><Relationship Type="http://schemas.openxmlformats.org/officeDocument/2006/relationships/slide" Target="/ppt/slides/slide5.xml" Id="R538e352baef94d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f984ca29434c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696fb07f954de1" /><Relationship Type="http://schemas.openxmlformats.org/officeDocument/2006/relationships/notesMaster" Target="/ppt/notesMasters/notesMaster1.xml" Id="R48653295577c4a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4117db39b04895" /><Relationship Type="http://schemas.openxmlformats.org/officeDocument/2006/relationships/notesMaster" Target="/ppt/notesMasters/notesMaster1.xml" Id="R0784f84e0b2b45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4a939c58d04535" /><Relationship Type="http://schemas.openxmlformats.org/officeDocument/2006/relationships/notesMaster" Target="/ppt/notesMasters/notesMaster1.xml" Id="R77eee6aac08c48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a50ef223b64e5d" /><Relationship Type="http://schemas.openxmlformats.org/officeDocument/2006/relationships/notesMaster" Target="/ppt/notesMasters/notesMaster1.xml" Id="R30b926fb300a4e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58806be2eb4cd3" /><Relationship Type="http://schemas.openxmlformats.org/officeDocument/2006/relationships/notesMaster" Target="/ppt/notesMasters/notesMaster1.xml" Id="R96442504f13843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sources: public/gvhmr-motion.js; scripts/prepare_gvhmr_demo.py; public/motion-data/gvhmr-demo.json.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Joint selection and downsampling are preprocessing steps. The browser calculates features and semantic results online for each released real frame. Sources: scripts/prepare_gvhmr_demo.py lines 18–148; public/gvhmr-motion.js lines 26–346.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detector computes both hip-knee-ankle angles, uses the more flexed side for phase detection, and evaluates depth, symmetry, and pelvis-to-neck lean over each completed cycle. Real results come from output1/back_extension_knee_bends/joints3d_global.npy. Prototype thresholds require PT calibration.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support foot and pelvis are tracked in the horizontal XZ plane. Displacements are normalized by stance leg length. Real results come from output2/heel_toe_standing_one_leg_stand/joints3d_global.npy. Prototype thresholds require PT calibration.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motion code has action-specific detectors, but GPT does not receive a separate function for every exercise. All detectors emit a common semantic event. The deterministic controller owns counts and state transitions. GPT receives only milestones and problems. Sources: public/gvhmr-motion.js; public/motion-schema.js; public/app.js pushMotionEvent; submit_session_event tool in the local controller.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c07b4d2d84c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8211b94af74063" /><Relationship Type="http://schemas.openxmlformats.org/officeDocument/2006/relationships/slideLayout" Target="/ppt/slideLayouts/slideLayout1.xml" Id="R2df1d1cd788844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f1d1cd788844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9f370ac8a4c3c" /><Relationship Type="http://schemas.openxmlformats.org/officeDocument/2006/relationships/notesSlide" Target="/ppt/notesSlides/notesSlide1.xml" Id="R787d8942abd943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098055f1b42c1" /><Relationship Type="http://schemas.openxmlformats.org/officeDocument/2006/relationships/notesSlide" Target="/ppt/notesSlides/notesSlide2.xml" Id="Re205019bdee04c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bfdccf10540c1" /><Relationship Type="http://schemas.openxmlformats.org/officeDocument/2006/relationships/notesSlide" Target="/ppt/notesSlides/notesSlide3.xml" Id="R192ec4f942fb47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00cdb23e7458a" /><Relationship Type="http://schemas.openxmlformats.org/officeDocument/2006/relationships/notesSlide" Target="/ppt/notesSlides/notesSlide4.xml" Id="R573346a7066242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5e85df3c54d51" /><Relationship Type="http://schemas.openxmlformats.org/officeDocument/2006/relationships/notesSlide" Target="/ppt/notesSlides/notesSlide5.xml" Id="R6c338413155747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47FB3-EF94-4866-91DE-E0B07E9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B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EE597-2F3F-46F9-A146-CCFF9354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OTAGO HOME EXERCISE COACH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51F48-E140-4392-A867-FD6FD2EA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904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Motion interface</a:t>
            </a:r>
          </a:p>
          <a:p xmlns:a="http://schemas.openxmlformats.org/drawingml/2006/main">
            <a:pPr algn="l">
              <a:defRPr sz="36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for realtime coaching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BC4C0-6E14-4670-A9E3-703EDAA1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790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Recorded GVHMR motion with online action judgment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5470A-EAD0-4FE7-8D10-1601264A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E8258-67E3-4623-B35C-AB465359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Prototype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CB26C-E94E-42C6-A987-2FF4FE8E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Knee bends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99682-5155-4730-BD3C-06326F85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434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One-leg 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493D8-918E-4185-AD4E-BA40D6D0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Real reconstructed coordinates</a:t>
            </a:r>
          </a:p>
          <a:p xmlns:a="http://schemas.openxmlformats.org/drawingml/2006/main">
            <a:pPr algn="l">
              <a:defRPr sz="13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Shared semantic motion interface</a:t>
            </a:r>
          </a:p>
        </p:txBody>
      </p:sp>
    </p:spTree>
    <p:extLst>
      <p:ext uri="{BB962C8B-B14F-4D97-AF65-F5344CB8AC3E}">
        <p14:creationId xmlns:p14="http://schemas.microsoft.com/office/powerpoint/2010/main" val="1864029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32839F-710E-4A31-9B0C-4B22C900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DATA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2BEBD-266C-4547-9BBA-CCB592C5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Recorded motion, online judgment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76FD1-9534-4AB8-AF20-56EE1DE4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PREPARED BEFORE THE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4CD7C-97E9-46F9-8FA4-1A97083B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2397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rPr>
              <a:t>COMPUTED DURING THE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93082-1BE9-47C4-B51B-2F46C568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3F7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F98FD-DB74-43E2-84DF-9880E46D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D2E23-D36A-4524-91BB-3EA7DD0A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907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7DC65-F9B9-4E05-A369-825477EB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52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GVHMR reconstruction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76C06-5FC9-4E69-8987-1FA61981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30 FPS global SMPL-24 coordinates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14664-7EA1-49FF-900D-4F70C43A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9810C-74C1-4643-B4A1-740980CC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622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Action interval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6166A-3C8A-4CE6-8443-42385DBA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242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Two recorded clips cropped to the target 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A1EAF-24FE-4DF8-9A66-23E3C1CB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E9D6F-FD6F-4ECD-9DB7-9E409BE6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719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Compact joint frames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1CCCE-2E16-4C4F-9C12-A4575F7E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33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10 joints retained and stored at 5 or 10 FPS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790A2-4DED-4844-929E-2812E45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907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9B32A-9461-47F0-8CEC-A6B81453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52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Timed frame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B51BF-2DC5-4D15-90A2-3E6E5CF8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145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Recorded coordinates replayed at 1× source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ED318-E44B-4429-AA70-E74B4438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03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9AFD3-FAEF-408A-A964-16492A72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622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Feature calculation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DA8F7F-4E1B-4DC9-8C84-B9E7B594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242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Angles, drift, sway and duration update per frame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23C98-BBB8-455A-8E20-5A421EE0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00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68A2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0ED3A-28F8-4322-BD5B-B4B4E74B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719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Semantic event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0EA9C-B990-4683-A365-5106D262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338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Counting and result JSON produced live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BCDA1-BE7C-42DA-8DA3-83205039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53075"/>
            <a:ext cx="10858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A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0B4E03-91F7-47F6-AF91-AAEBD334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recording is fixed. Feature calculation, temporal detection, counting and result JSON run online.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D8F276-0B9E-468D-9049-166C86F8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0E6DF-A624-44D9-9FBB-A9D3EB63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Otago motion interface prototype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B15BBF-FBD2-4426-8C1D-253DBE4B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9245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D8935-D6B3-42AC-ABD7-581B1920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ACTION RULE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0BCBB-E6CB-4C4A-8D31-4576FF09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Knee-bend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7B84C-D15C-44C2-A932-9615F8D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Joints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749CE-1BEB-41FC-ADB1-9FAE487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2763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bilateral hip, knee and ankle; pelvis and neck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A1693-96C6-4CBA-A508-B06E523B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A8426-006A-47E4-BA05-9939E059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7C923-34CE-43C0-8469-281C2589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81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≤ 140° descent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8E8FE-2725-4BA2-9D1F-62E42F70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0193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then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87A05-55BB-4469-953E-848E00BB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≥ 158° return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E7058-4615-46D5-B67B-23F6984E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one repetition candidate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ECD86-FABE-44DA-94DF-8D8948EC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Restrictions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9BB1E-9F37-4765-9C22-B0DE1C75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52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Depth ≤ 140°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F4259-51E5-4B33-8C79-CAC991E3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Angle gap ≤ 18°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FB304-AB8A-463D-89FD-89C4A5D1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Trunk lean ≤ 22°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D9F68-225E-42CD-A9F9-750C6008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Real results from output1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66750" y="3590925"/>
          <a:ext xmlns:a="http://schemas.openxmlformats.org/drawingml/2006/main" cx="1085850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571750"/>
                <a:gridCol w="2381250"/>
                <a:gridCol w="2571750"/>
                <a:gridCol w="1428750"/>
              </a:tblGrid>
              <a:tr h="3460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Minimum knee angle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Maximum L/R gap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Maximum trunk lean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119.4°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3.8°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8.7°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116.7°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2.9°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9.3°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111.9°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2.3°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7.7°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112.5°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3.0°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9.2°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108.4°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3.2°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9.4°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CF2F3-3AFF-48C6-9E4F-ABFF884B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Pelvis drop / mean leg length is logged, but it does not affect pass or fail yet.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D3964-B067-4CE4-839A-FFC4FDCB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083F9-DE2C-400B-A698-2F0CA61C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Otago motion interface prototype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EB252-BF50-4D81-8B67-578F4D04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8221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F0723-1F83-464A-9167-53746EBD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BALANCE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D1FBD-A975-488F-A678-4D780719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One-leg-stand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2B04A-5D29-49B8-8C9A-EF21AED4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Joints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7AAEF-9E2C-44F4-B7DA-4B66DFA4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2763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lifted ankle; stance hip, knee, ankle and foot; pelvis and neck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47320-7E15-4BB7-821F-435D4905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71781-0546-4667-A80C-A8F9E36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Foot lift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13F0A-3F7D-485D-8076-B3C0237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≥ 0.18 leg lengths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92DE5-7B0F-441C-BA48-C02A8E97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Stance drift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0DD36-3657-47E3-B1D8-7E9C4D8C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479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≤ 0.12 leg lengths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27804-C15F-4976-B4DC-6EFF8C2D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Pelvis sway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BEAD6-E806-446A-8ADA-BE1CB39A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479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≤ 0.22 leg lengths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60BFE-E2C6-47AC-A122-0B0A5D10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Trunk lean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2FEC6-80E6-4EA2-8278-12100D38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479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≤ 20°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BDF1E-E290-4229-BF65-5A143A05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8585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02A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95B51-D070-40A9-B8FD-BAC073CD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718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four conditions must remain valid for 10 seconds. Any invalid frame resets the timer.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D6E2E-F162-48DB-BE89-C486DC13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Real results from output2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666750" y="4410075"/>
          <a:ext xmlns:a="http://schemas.openxmlformats.org/drawingml/2006/main" cx="10858500" cy="1238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143000"/>
                <a:gridCol w="1285875"/>
                <a:gridCol w="1714500"/>
                <a:gridCol w="1666875"/>
                <a:gridCol w="1666875"/>
                <a:gridCol w="1143000"/>
              </a:tblGrid>
              <a:tr h="412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Side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Hold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Lift ratio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Max. stance drift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Max. pelvis sway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Max. trunk lean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</a:t>
                      </a:r>
                    </a:p>
                  </a:txBody>
                  <a:tcPr marL="95250" marR="95250" marT="57150" marB="57150">
                    <a:solidFill>
                      <a:srgbClr val="175B3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Left foot lifted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10.0 s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0.343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0.017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0.030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5.0°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Right foot lifted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10.0 s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0.247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0.007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0.021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8.0°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0201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</a:t>
                      </a:r>
                    </a:p>
                  </a:txBody>
                  <a:tcPr marL="95250" marR="95250" marT="47625" marB="476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C5B0E-4094-4F8C-B8AC-9F67D981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Distances use stance leg length: hip-to-knee plus knee-to-ankle.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B528D-B4F5-42F6-B9A4-0C1958B5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C7D25-7F15-41B9-8481-75F57B05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Otago motion interface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9D584-46EE-4CC5-970A-FADB4C45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7843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CC3382-E69A-4561-85EF-1A0A2CB9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FUNCTION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A5C53-06A6-497A-A601-89CD7EF0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Motion-to-agent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3F4FF-E2E9-4155-A329-BDB3F13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Action detector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CAF10-CC42-401A-9BFC-B093B61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7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ABB15-1BBD-4C85-8F4A-DD24D355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686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KneeBendDetector</a:t>
            </a:r>
          </a:p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OneLegStandDetector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Different joints and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3613C-1A62-476E-8FCD-37F7AAB9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5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Shared event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DE295-65DC-4094-A416-ECAAB7C6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E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D5F46-E60C-491E-8A98-9DC177A3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09800"/>
            <a:ext cx="2686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exercise</a:t>
            </a:r>
          </a:p>
          <a:p xmlns:a="http://schemas.openxmlformats.org/drawingml/2006/main">
            <a:pPr algn="l">
              <a:def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observation</a:t>
            </a:r>
          </a:p>
          <a:p xmlns:a="http://schemas.openxmlformats.org/drawingml/2006/main">
            <a:pPr algn="l">
              <a:def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assessment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Same output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E34FA-7A45-4C1D-82A5-5621834F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5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5B38"/>
                </a:solidFill>
                <a:latin typeface="Helvetica Neue"/>
                <a:ea typeface="Helvetica Neue"/>
                <a:cs typeface="Helvetica Neue"/>
              </a:rPr>
              <a:t>Controller and voice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6A2E7-EBF4-4CDD-9560-A7E6DC27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7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BA3D8-38D0-4A37-A447-ED7C8DC2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26860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submit_session_event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event = motion_observation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No LLM tool per exercise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54761-BBD3-402A-9970-0F35E989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Model-facing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A0541-EC24-411B-95DE-30A3D90A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Ordinary valid 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24F87-F800-4924-BCB2-39F143A9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7910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Local detector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299D3-4DBF-4443-BA0E-C9EEA903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Valid repetition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951ED-D0CF-4B2B-8F88-26478398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530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Update deterministic controller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03DB6C-6224-4778-9DDD-7F1B9482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Correction or safety event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19E50-B6FC-454E-9C07-C0EDE898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5149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Generate an immediate voice cue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2AAD4-AB95-4B9D-86B5-FCE80619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2018"/>
                </a:solidFill>
                <a:latin typeface="Helvetica Neue"/>
                <a:ea typeface="Helvetica Neue"/>
                <a:cs typeface="Helvetica Neue"/>
              </a:rPr>
              <a:t>Prescribed target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43C71-64BA-417E-A261-7F4AD691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8769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Advance state and introduce the next task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DD36A-9E6A-415A-8E9D-CAC29EE0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52950"/>
            <a:ext cx="1714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2A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9F44E-C371-4708-97BB-632032D5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339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D2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FD2B1"/>
                </a:solidFill>
                <a:latin typeface="Helvetica Neue"/>
                <a:ea typeface="Helvetica Neue"/>
                <a:cs typeface="Helvetica Neue"/>
              </a:rPr>
              <a:t>Compact event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EA7FC-5037-42EE-998F-9B8A2BAF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244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33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rep_completed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correct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count +1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3C1A8-7E5F-4EA5-827B-7B5AD2F9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B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7730CB-82CF-4166-AB96-A5840B72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5320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Otago motion interface prototype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BD7864-DB75-4AE2-913A-7BC5CD5F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532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5B6B6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0358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2026-09-09T17:07:13.6560000Z</dcterms:created>
  <dcterms:modified xsi:type="dcterms:W3CDTF">2026-09-09T17:07:13.6560000Z</dcterms:modified>
</coreProperties>
</file>