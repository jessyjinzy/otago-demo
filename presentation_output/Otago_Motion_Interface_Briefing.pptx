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4c996ac88425f" /><Relationship Type="http://schemas.openxmlformats.org/officeDocument/2006/relationships/extended-properties" Target="/docProps/app.xml" Id="R0239ab8c6feb4890" /><Relationship Type="http://schemas.openxmlformats.org/officeDocument/2006/relationships/officeDocument" Target="/ppt/presentation.xml" Id="R4020c9b15294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f12c348374849"/>
  </p:sldMasterIdLst>
  <p:notesMasterIdLst>
    <p:notesMasterId xmlns:r="http://schemas.openxmlformats.org/officeDocument/2006/relationships" r:id="R4c2c0246a4874270"/>
  </p:notesMasterIdLst>
  <p:sldIdLst>
    <p:sldId xmlns:r="http://schemas.openxmlformats.org/officeDocument/2006/relationships" id="256" r:id="R788fbac3c62c4d0f"/>
    <p:sldId xmlns:r="http://schemas.openxmlformats.org/officeDocument/2006/relationships" id="257" r:id="R1da6c0874eab497f"/>
    <p:sldId xmlns:r="http://schemas.openxmlformats.org/officeDocument/2006/relationships" id="258" r:id="Rb45e58ccca934ed2"/>
    <p:sldId xmlns:r="http://schemas.openxmlformats.org/officeDocument/2006/relationships" id="259" r:id="Rbe88038eb513476d"/>
    <p:sldId xmlns:r="http://schemas.openxmlformats.org/officeDocument/2006/relationships" id="260" r:id="R45731112b84a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143096afd4340" /><Relationship Type="http://schemas.openxmlformats.org/officeDocument/2006/relationships/slideMaster" Target="/ppt/slideMasters/slideMaster1.xml" Id="Re25f12c348374849" /><Relationship Type="http://schemas.openxmlformats.org/officeDocument/2006/relationships/notesMaster" Target="/ppt/notesMasters/notesMaster1.xml" Id="R4c2c0246a4874270" /><Relationship Type="http://schemas.openxmlformats.org/officeDocument/2006/relationships/presProps" Target="/ppt/presProps.xml" Id="R345b0c5e01df450e" /><Relationship Type="http://schemas.openxmlformats.org/officeDocument/2006/relationships/tableStyles" Target="/ppt/tableStyles.xml" Id="Rc78a836aeb4c4af4" /><Relationship Type="http://schemas.openxmlformats.org/officeDocument/2006/relationships/slide" Target="/ppt/slides/slide1.xml" Id="R788fbac3c62c4d0f" /><Relationship Type="http://schemas.openxmlformats.org/officeDocument/2006/relationships/slide" Target="/ppt/slides/slide2.xml" Id="R1da6c0874eab497f" /><Relationship Type="http://schemas.openxmlformats.org/officeDocument/2006/relationships/slide" Target="/ppt/slides/slide3.xml" Id="Rb45e58ccca934ed2" /><Relationship Type="http://schemas.openxmlformats.org/officeDocument/2006/relationships/slide" Target="/ppt/slides/slide4.xml" Id="Rbe88038eb513476d" /><Relationship Type="http://schemas.openxmlformats.org/officeDocument/2006/relationships/slide" Target="/ppt/slides/slide5.xml" Id="R45731112b84a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f339d9f0c6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43edc81c74d35" /><Relationship Type="http://schemas.openxmlformats.org/officeDocument/2006/relationships/notesMaster" Target="/ppt/notesMasters/notesMaster1.xml" Id="R1cd8f56c370b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fb3f6f0475449e" /><Relationship Type="http://schemas.openxmlformats.org/officeDocument/2006/relationships/notesMaster" Target="/ppt/notesMasters/notesMaster1.xml" Id="Rf829a4ebbc49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83e095c628454b" /><Relationship Type="http://schemas.openxmlformats.org/officeDocument/2006/relationships/notesMaster" Target="/ppt/notesMasters/notesMaster1.xml" Id="R95c23cf32050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a37fd70a44517" /><Relationship Type="http://schemas.openxmlformats.org/officeDocument/2006/relationships/notesMaster" Target="/ppt/notesMasters/notesMaster1.xml" Id="Rd8b4222222e344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4b158258fc42a2" /><Relationship Type="http://schemas.openxmlformats.org/officeDocument/2006/relationships/notesMaster" Target="/ppt/notesMasters/notesMaster1.xml" Id="R868ecae1f60e4c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public/gvhmr-motion.js; scripts/prepare_gvhmr_demo.py; public/motion-data/gvhmr-demo.json.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Joint selection and downsampling are preprocessing steps. The browser calculates features and semantic results online for each released real frame. Sources: scripts/prepare_gvhmr_demo.py lines 18–148; public/gvhmr-motion.js lines 26–346.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detector computes both hip-knee-ankle angles, uses the more flexed side for phase detection, and evaluates depth, symmetry, and pelvis-to-neck lean over each completed cycle. Real results come from output1/back_extension_knee_bends/joints3d_global.npy. Prototype thresholds require PT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support foot and pelvis are tracked in the horizontal XZ plane. Displacements are normalized by stance leg length. Real results come from output2/heel_toe_standing_one_leg_stand/joints3d_global.npy. Prototype thresholds require PT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motion code has action-specific detectors, but GPT does not receive a separate function for every exercise. All detectors emit a common semantic event. The deterministic controller owns counts and state transitions. GPT receives only milestones and problems. Sources: public/gvhmr-motion.js; public/motion-schema.js; public/app.js pushMotionEvent; submit_session_event tool in the local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7164f262442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a839ad228433c" /><Relationship Type="http://schemas.openxmlformats.org/officeDocument/2006/relationships/slideLayout" Target="/ppt/slideLayouts/slideLayout1.xml" Id="R296767dc8fa945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767dc8fa945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aa69c6b754efc" /><Relationship Type="http://schemas.openxmlformats.org/officeDocument/2006/relationships/notesSlide" Target="/ppt/notesSlides/notesSlide1.xml" Id="R802faf1e82fe41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c94d01b8a4488" /><Relationship Type="http://schemas.openxmlformats.org/officeDocument/2006/relationships/notesSlide" Target="/ppt/notesSlides/notesSlide2.xml" Id="R134f47d7dfa1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bf97538ee49a4" /><Relationship Type="http://schemas.openxmlformats.org/officeDocument/2006/relationships/notesSlide" Target="/ppt/notesSlides/notesSlide3.xml" Id="R573a080fb14341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d8397e47846c4" /><Relationship Type="http://schemas.openxmlformats.org/officeDocument/2006/relationships/notesSlide" Target="/ppt/notesSlides/notesSlide4.xml" Id="R0c2013dc9245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ca5352557442d" /><Relationship Type="http://schemas.openxmlformats.org/officeDocument/2006/relationships/notesSlide" Target="/ppt/notesSlides/notesSlide5.xml" Id="R85eb0dec44d2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AB026-817D-450C-96BE-35224ABA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7344C-0383-4998-9441-D0911F1A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OTAGO HOME EXERCISE COACH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82E77-7416-4851-B5BA-B980D2E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04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Motion interface</a:t>
            </a:r>
          </a:p>
          <a:p xmlns:a="http://schemas.openxmlformats.org/drawingml/2006/main">
            <a:pPr algn="l">
              <a:def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for realtime coaching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D51E4-285A-42D2-92B7-84FB3FC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Recorded GVHMR motion with online action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B1550-8AFA-4C6F-BCFA-C551527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C4FA0-98EA-4033-9685-875D5740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Prototype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EABA2-88D2-4A1E-9ECA-9A31CD90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 bends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408CC-8C5B-47B1-95A0-FDCE305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43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One-leg 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26051-E724-4D45-8072-0A208C4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Real reconstructed coordinates</a:t>
            </a:r>
          </a:p>
          <a:p xmlns:a="http://schemas.openxmlformats.org/drawingml/2006/main">
            <a:pPr algn="l">
              <a:def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Shared semantic motion interface</a:t>
            </a:r>
          </a:p>
        </p:txBody>
      </p:sp>
    </p:spTree>
    <p:extLst>
      <p:ext uri="{BB962C8B-B14F-4D97-AF65-F5344CB8AC3E}">
        <p14:creationId xmlns:p14="http://schemas.microsoft.com/office/powerpoint/2010/main" val="572932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8A26B-5F24-4213-B158-FD87E362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5101C-F2C3-4003-A0AB-93B5194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Recorded motion, online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BAE3D-E027-4B78-86D1-4339D7E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PREPARED BEFORE THE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CBDB-DEA7-4B15-A9A9-63D22E8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2397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COMPUTED DURING 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74682-1FC8-4860-A371-CE99C09C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6159C-6834-40DD-9A25-EDF28A5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A3A53-1454-4ACA-A6A1-7B9BDB4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19BBF-0DC2-451F-B012-95587DC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GVHMR reconstruction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5980A-29CB-4D50-A8E7-9C929D0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30 FPS global SMPL-24 coordinates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BD75C-446E-48E8-BCAB-8839064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AC764-5A0E-4528-9B19-4845D29F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Action interval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87668-06C1-4DC9-BF86-9E44CAB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Two recorded clips cropped to the target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5F659-A0F7-4000-BC1D-B42E7D0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94DDC-1AEE-4B5A-87D4-7E847414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71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Compact joint 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78BF5-1E1E-4915-BD0C-759AD314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10 joints retained and stored at 5 or 10 FPS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BBB90-754F-4603-A757-7E878CE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907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EAE86-CCF9-484F-B6FB-BA870A8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Timed frame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7DBE4-CC09-487C-B820-176F07F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Recorded coordinates replayed at 1× source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F4EDD-125B-403D-91D4-1D94462C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1B27B-9857-40EC-BD8E-48DF4D5C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2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Feature calculation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1453E-5513-4AB2-B6D2-3A4BF25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24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Angles, drift, sway and duration update per 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D3E6C-FB43-4648-B08B-08D3F14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66B7D-E931-426F-B0DB-926BA6F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71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Semantic event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66B92-F0F4-405E-9EC0-B1F87CC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33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Counting and result JSON produced 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CEF58-AE38-4BE2-985E-B15B7E9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858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A86F3-7E57-4218-9284-94A7466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recording is fixed. Feature calculation, temporal detection, counting and result JSON run online.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6285D-ED97-4DD1-907F-EEE6A26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A0CB3-E5DB-4109-AB80-69C570A5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B27ED-DBAE-4EAE-8AD9-AAECEA03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2417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99935-1296-4019-8EB4-71AB3F52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ACTION RULE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11325-E88B-408A-8678-3E583AD4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Knee-bend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6D926-F609-4968-89C3-BBC054D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Joints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533ED-76A5-4AA6-B5B5-147C90C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2763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bilateral hip, knee and ankle; pelvis and neck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CDE9-799C-444E-B1A9-3D6AD9D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EC523-A75B-44C7-9E86-45A8819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83862-B51E-4921-A4BB-2E2E06C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140° descent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767DD-9451-43F7-82C9-7A71617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19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B000D-6FF1-440C-8C54-5943018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≥ 158°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859BD-96FB-4B04-892E-6C140E6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one repetition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E082B-1D9C-4A2C-BCD8-A3A815D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Restrictions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6EDF2-C3E0-44BA-BAB2-90D6F5FB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Depth ≤ 140°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E02FC-8D2A-4F0B-AEBC-546D8A2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Angle gap ≤ 18°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72D05-B373-48EE-8C30-6953DD6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Trunk lean ≤ 22°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A8D30-6D5B-4BB0-A4AD-7D2E9AC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Real results from output1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66750" y="3590925"/>
          <a:ext xmlns:a="http://schemas.openxmlformats.org/drawingml/2006/main" cx="108585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571750"/>
                <a:gridCol w="2381250"/>
                <a:gridCol w="2571750"/>
                <a:gridCol w="1428750"/>
              </a:tblGrid>
              <a:tr h="3460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Minimum knee angle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Maximum L/R gap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Maximum trunk lean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119.4°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3.8°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116.7°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2.9°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111.9°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2.3°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112.5°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9.2°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108.4°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3.2°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5747D-ABFD-47A4-A15F-98F0795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Pelvis drop / mean leg length is logged, but it does not affect pass or fail yet.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C2312-B329-42E7-AC13-0C0D0DB2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24D0E-6382-4014-9E4D-5F194BF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B5791-AE58-4E55-B79D-638B8B6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553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D49F5-2F57-42FF-9BE1-B5814C8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ACTION RULE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247EB-4297-403F-9D8E-5BA40039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One-leg-stand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6259A-4981-4D08-9F2E-41AF2A3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Joints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9BEDC-CC24-4619-BE21-4ACDC09F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276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lifted ankle; stance hip, knee, ankle and foot; pelvis and neck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BFCC7-30D0-48F4-980C-A6C2F348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0DEC2-2EA9-4B92-ABA6-59DC79C7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Foot lift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B0F1-7D65-4BB3-9B3D-10C8D4EA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≥ 0.18 leg lengths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DA2C7-37FA-4012-8580-1118DB90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Stance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D25B2-FCC7-44CF-81E9-3AFECAAF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0.12 leg lengths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A063F-7E33-43BB-B547-05290557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Pelvis sway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89A23-3EE4-4A64-877D-C6D6205E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0.22 leg lengths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25D84-9B54-4B3C-9B36-00EB7FD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Trunk lean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0AE1D-E0C6-4867-BE7D-DB538F1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20°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436F3-5743-4897-AD13-1E2E2889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803DE-BE40-465C-A5B1-2CCA055E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conditions must remain valid for 10 seconds. Any invalid frame resets the timer.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5F6AA-1744-4523-BB26-095B9CD7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Real results from output2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66750" y="4410075"/>
          <a:ext xmlns:a="http://schemas.openxmlformats.org/drawingml/2006/main" cx="108585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  <a:gridCol w="1285875"/>
                <a:gridCol w="1714500"/>
                <a:gridCol w="1666875"/>
                <a:gridCol w="1666875"/>
                <a:gridCol w="1143000"/>
              </a:tblGrid>
              <a:tr h="412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Side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Hold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 ratio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stance drift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pelvis sway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trunk lean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Left foot lifted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 s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0.343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0.030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Right foot lifted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 s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0.021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CCAAF-D40F-411C-93D8-4D48D066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Distances use stance leg length: hip-to-knee plus knee-to-ankle.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23EA6-8490-4B65-956E-39F9ABB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779C9-2191-443E-9558-94DA2ED1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C2C3A-1E3A-47CC-8323-62ED672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3370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A57D7-726A-413A-9B30-A97177E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FUNCTION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0F1DE-6724-4AA1-B8C7-D92752C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Motion-to-agent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76B44-CA95-4207-80D0-8DAFFDE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Action 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F53B2-7350-45DB-BAA0-33A5D5C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F8FA1-90FE-49B7-A341-1AC7D41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KneeBendDetector</a:t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OneLegStandDetector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Different joints and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2A411-2A0C-4AEE-9DE4-3316F14C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Shared event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E3568-FA98-4DDC-AA02-D5E59B5D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00739-EE88-4B3B-BDBE-F6F8EFB9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exercise</a:t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Same output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1A3ED-5B8F-440C-A1AC-CEDAA38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Controller and 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B64B-6C52-4AE8-8393-B9D78AF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978B0-228D-4E8A-AD67-EB87BDA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submit_session_event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event = motion_observation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No LLM tool per exercise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36A84-9146-4B33-8DEA-D1F1C65E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Model-facing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530C9-648B-459A-A867-E1422AC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Ordinary valid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13BDB-8F17-497E-A7FA-5F806686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910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Local detector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77A3A-B017-420A-A7EF-6FB48DCE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Valid repetition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8DA63-15B5-44E2-A382-9FE314A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530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Update deterministic 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E6308-C141-464B-804D-1757667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Correction or safety event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3B39F-6E64-4F5B-A121-3DE2A2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149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Generate an immediate voice cue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41D62-CCF8-4DB2-AA27-54537057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Prescribed target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0F719-51DD-4048-846D-01E8B1BA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8769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Advance state and introduce the next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3C4B2-B108-4CDD-9200-928FF47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52950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6D8A1-1BED-4DDF-8546-9AC67132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33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2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D2B1"/>
                </a:solidFill>
                <a:latin typeface="Helvetica Neue"/>
                <a:ea typeface="Helvetica Neue"/>
                <a:cs typeface="Helvetica Neue"/>
              </a:rPr>
              <a:t>Compact 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34589-4E6E-4AC2-8D36-DBD0E14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244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rep_completed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correct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count 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8559E-AD4E-409E-A198-E44C772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D06EE-EAB9-49EA-9713-7812674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27C2B-4217-4F90-881A-D86B8836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016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2026-09-09T17:05:20.5990000Z</dcterms:created>
  <dcterms:modified xsi:type="dcterms:W3CDTF">2026-09-09T17:05:20.5990000Z</dcterms:modified>
</coreProperties>
</file>