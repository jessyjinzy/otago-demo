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97"/>
    <p:restoredTop sz="96327"/>
  </p:normalViewPr>
  <p:slideViewPr>
    <p:cSldViewPr snapToGrid="0" snapToObjects="1">
      <p:cViewPr varScale="1">
        <p:scale>
          <a:sx n="125" d="100"/>
          <a:sy n="125" d="100"/>
        </p:scale>
        <p:origin x="168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62FA38-B8D7-ED4C-9B0E-77DDBA670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3924B5-19EA-474F-BF24-6CE4DAAA1F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8AD3B7-B9DD-6347-97FF-61C6D194B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0E2C-8181-7442-95D0-503695CF05E9}" type="datetimeFigureOut">
              <a:rPr kumimoji="1" lang="zh-CN" altLang="en-US" smtClean="0"/>
              <a:t>2026/8/27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AA25FC-699E-6D46-B012-C172C92A7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02C9F7-6643-2F46-A1EB-BDCBDD4D2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3E69-D7DB-CD4B-8594-253B9D12A21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768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D4B8E1-1CCF-DD48-BBE4-C7DFF2D8B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369473-39ED-0247-9F5A-783814F1E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5B22BE-DCFF-504B-A1BC-70DC58DE6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0E2C-8181-7442-95D0-503695CF05E9}" type="datetimeFigureOut">
              <a:rPr kumimoji="1" lang="zh-CN" altLang="en-US" smtClean="0"/>
              <a:t>2026/8/27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FDF3B6-E655-6748-B2A0-C34B6D654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BE5ECB-BB75-AE42-9601-57FABFA49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3E69-D7DB-CD4B-8594-253B9D12A21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307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A4E08A-77A2-4445-B41A-D15AC51A3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FE507F-A996-2140-987B-42F37D64E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BCD78C-4FE3-6247-B540-635515DEB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0E2C-8181-7442-95D0-503695CF05E9}" type="datetimeFigureOut">
              <a:rPr kumimoji="1" lang="zh-CN" altLang="en-US" smtClean="0"/>
              <a:t>2026/8/27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D18D3D-5AD1-894E-A1FB-9DAF50B81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E41134-413F-9C43-924E-538BB8193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3E69-D7DB-CD4B-8594-253B9D12A21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4392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48E3E3-B8C7-6446-BBA5-E697A504B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7FAE05-0FD4-7241-BFBA-1D0072C5A4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5ED5D5-0DDC-1E4E-9D9A-3D5FF6E4A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846140-9366-E74C-B9D5-9C0D54611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0E2C-8181-7442-95D0-503695CF05E9}" type="datetimeFigureOut">
              <a:rPr kumimoji="1" lang="zh-CN" altLang="en-US" smtClean="0"/>
              <a:t>2026/8/27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6F0729-D41F-064A-AFE1-0727C8822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E57AEA-34D4-6F41-A86B-5F7F7EFDC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3E69-D7DB-CD4B-8594-253B9D12A21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30113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15AC6C-6131-F149-A8B0-D1E59BE6D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0F5AAE-4954-5942-B5A9-B44A382C1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55A3AF-B288-B84C-86E6-578B5E52F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9E31BFC-49AF-414C-8673-EF8F17D877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9A5BBBC-3085-FE4C-83A0-1C9D6B2525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87828FF-FB5B-9A40-BCB6-71FB9ABA3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0E2C-8181-7442-95D0-503695CF05E9}" type="datetimeFigureOut">
              <a:rPr kumimoji="1" lang="zh-CN" altLang="en-US" smtClean="0"/>
              <a:t>2026/8/27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5CE3956-B529-2843-9795-386B42769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4ED70A4-4EF3-9B45-BB88-419307281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3E69-D7DB-CD4B-8594-253B9D12A21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9289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63FC8-38C8-0C4E-AF2F-CF53CD872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86545F1-64C7-E54D-BB91-320FC946A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0E2C-8181-7442-95D0-503695CF05E9}" type="datetimeFigureOut">
              <a:rPr kumimoji="1" lang="zh-CN" altLang="en-US" smtClean="0"/>
              <a:t>2026/8/27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A327509-E4B1-0A40-9365-3E97D36AA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18B1D2-1866-044C-8BD3-DB5F02BE4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3E69-D7DB-CD4B-8594-253B9D12A21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7949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31DB8E-3AB6-5943-97E9-013C9F360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0E2C-8181-7442-95D0-503695CF05E9}" type="datetimeFigureOut">
              <a:rPr kumimoji="1" lang="zh-CN" altLang="en-US" smtClean="0"/>
              <a:t>2026/8/27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8745E8C-4E3E-804D-AC86-92799FBC9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0CB8C6-C4F9-5A4F-B82E-7ACE1D0B2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3E69-D7DB-CD4B-8594-253B9D12A21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6592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B7831A-E71D-5F46-9662-89E9CF401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0EC343-1871-9343-9128-2F4418B61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652C06-3C1D-7847-81BA-12FC8AD59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C3EDC3A-59A4-1742-93EC-DAAF299DE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0E2C-8181-7442-95D0-503695CF05E9}" type="datetimeFigureOut">
              <a:rPr kumimoji="1" lang="zh-CN" altLang="en-US" smtClean="0"/>
              <a:t>2026/8/27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307E6A-AD28-8F4D-96E3-9C3D34EE2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20EDA5-A600-2E40-A8C8-593BA1241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3E69-D7DB-CD4B-8594-253B9D12A21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2409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914145-3138-F54B-AEE8-54C2BFB1E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F004F03-75B5-D345-93F8-1B5790E5E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CF94E5-94F2-B74D-B224-BF37DB369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2A132E-6985-3D42-B2E9-81695B924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0E2C-8181-7442-95D0-503695CF05E9}" type="datetimeFigureOut">
              <a:rPr kumimoji="1" lang="zh-CN" altLang="en-US" smtClean="0"/>
              <a:t>2026/8/27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FCE10A-D518-0D4B-88E9-B625A4338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54C25C-E19B-A049-99E7-DE9C39984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3E69-D7DB-CD4B-8594-253B9D12A21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732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2181F5-29A7-3340-8CBF-D874449CC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F2ECD6-502C-E047-BEAA-37A7B4E90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99D71D-193D-8540-B909-C21DE654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0E2C-8181-7442-95D0-503695CF05E9}" type="datetimeFigureOut">
              <a:rPr kumimoji="1" lang="zh-CN" altLang="en-US" smtClean="0"/>
              <a:t>2026/8/27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1C34C3-6D2A-A945-A92B-C4BD60117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D1837E-7D7B-6B46-88C6-C804AAADD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3E69-D7DB-CD4B-8594-253B9D12A21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9556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B6BC889-6C44-5941-9BAC-F400CA730C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33A49E-6B7A-7F48-A124-FC387BAC4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FE4B61-0842-BB43-A278-4DE343641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0E2C-8181-7442-95D0-503695CF05E9}" type="datetimeFigureOut">
              <a:rPr kumimoji="1" lang="zh-CN" altLang="en-US" smtClean="0"/>
              <a:t>2026/8/27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15D0F4-6569-AD4D-8529-ACB695D4B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756D56-F5DC-7B45-9FCC-1C152CA82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3E69-D7DB-CD4B-8594-253B9D12A21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9367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F6AC8AA-8304-2E4A-9337-86BEF5626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0E08D5-0813-5146-BF79-B4C5C0EE2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B4A9B2-D973-7748-A17B-8B8B56592D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F0E2C-8181-7442-95D0-503695CF05E9}" type="datetimeFigureOut">
              <a:rPr kumimoji="1" lang="zh-CN" altLang="en-US" smtClean="0"/>
              <a:t>2026/8/27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4EBDA8-07B1-FF4A-B30F-A2E75E8D95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CE012D-3D1B-5341-8BDE-F6EB700756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43E69-D7DB-CD4B-8594-253B9D12A21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06203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A2342A-3698-834A-97E5-E4AC8218E7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4400" dirty="0"/>
              <a:t>Otago Home-Exercise</a:t>
            </a:r>
            <a:br>
              <a:rPr kumimoji="1" lang="en" altLang="zh-CN" sz="4400" dirty="0"/>
            </a:br>
            <a:r>
              <a:rPr kumimoji="1" lang="en" altLang="zh-CN" sz="4400" dirty="0"/>
              <a:t>Sessions State Machine Design</a:t>
            </a:r>
            <a:endParaRPr kumimoji="1"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205799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9D70FD-5A97-CA4A-8269-2A21F8639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52-Week </a:t>
            </a:r>
            <a:r>
              <a:rPr lang="en" altLang="zh-CN" dirty="0"/>
              <a:t>Otago </a:t>
            </a:r>
            <a:r>
              <a:rPr kumimoji="1" lang="en-US" altLang="zh-CN" dirty="0"/>
              <a:t>Program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75138D-11E8-F04B-BD33-AB63E693A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" altLang="zh-CN" sz="1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Weekly counting and scheduling</a:t>
            </a:r>
          </a:p>
          <a:p>
            <a:pPr lvl="1"/>
            <a:r>
              <a:rPr lang="en" altLang="zh-CN" sz="1400" dirty="0">
                <a:solidFill>
                  <a:srgbClr val="3B3B3B"/>
                </a:solidFill>
                <a:latin typeface="Menlo" panose="020B0609030804020204" pitchFamily="49" charset="0"/>
              </a:rPr>
              <a:t>Week 1:</a:t>
            </a:r>
            <a:r>
              <a:rPr lang="en" altLang="zh-CN" sz="1600" dirty="0">
                <a:solidFill>
                  <a:srgbClr val="3B3B3B"/>
                </a:solidFill>
              </a:rPr>
              <a:t> baseline assessment and individualized exercise prescription</a:t>
            </a:r>
          </a:p>
          <a:p>
            <a:pPr lvl="1"/>
            <a:r>
              <a:rPr lang="en" altLang="zh-CN" sz="1400" dirty="0">
                <a:solidFill>
                  <a:srgbClr val="3B3B3B"/>
                </a:solidFill>
                <a:latin typeface="Menlo" panose="020B0609030804020204" pitchFamily="49" charset="0"/>
              </a:rPr>
              <a:t>Weeks 1–8: </a:t>
            </a:r>
            <a:r>
              <a:rPr lang="en" altLang="zh-CN" sz="1600" dirty="0">
                <a:solidFill>
                  <a:srgbClr val="3B3B3B"/>
                </a:solidFill>
              </a:rPr>
              <a:t>intensive start-up phase with approximately four home visits, typically every other week</a:t>
            </a:r>
          </a:p>
          <a:p>
            <a:pPr lvl="1"/>
            <a:r>
              <a:rPr lang="en" altLang="zh-CN" sz="1400" dirty="0">
                <a:solidFill>
                  <a:srgbClr val="3B3B3B"/>
                </a:solidFill>
                <a:latin typeface="Menlo" panose="020B0609030804020204" pitchFamily="49" charset="0"/>
              </a:rPr>
              <a:t>Weeks 9–52: </a:t>
            </a:r>
            <a:r>
              <a:rPr lang="en" altLang="zh-CN" sz="1600" dirty="0">
                <a:solidFill>
                  <a:srgbClr val="3B3B3B"/>
                </a:solidFill>
              </a:rPr>
              <a:t>continued home exercise with monthly phone follow-ups when no home visit occurs</a:t>
            </a:r>
          </a:p>
          <a:p>
            <a:pPr lvl="1"/>
            <a:r>
              <a:rPr lang="en" altLang="zh-CN" sz="1400" dirty="0">
                <a:solidFill>
                  <a:srgbClr val="3B3B3B"/>
                </a:solidFill>
                <a:latin typeface="Menlo" panose="020B0609030804020204" pitchFamily="49" charset="0"/>
              </a:rPr>
              <a:t>Months 6, 9, and 12: </a:t>
            </a:r>
            <a:r>
              <a:rPr lang="en" altLang="zh-CN" sz="1600" dirty="0">
                <a:solidFill>
                  <a:srgbClr val="3B3B3B"/>
                </a:solidFill>
              </a:rPr>
              <a:t>PT home visits for reassessment and prescription progression</a:t>
            </a:r>
          </a:p>
          <a:p>
            <a:r>
              <a:rPr lang="en" altLang="zh-CN" sz="1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Home Exercise throughout Weeks 1–52</a:t>
            </a:r>
          </a:p>
          <a:p>
            <a:pPr lvl="1"/>
            <a:r>
              <a:rPr lang="en" altLang="zh-CN" sz="1400" dirty="0">
                <a:solidFill>
                  <a:srgbClr val="3B3B3B"/>
                </a:solidFill>
                <a:latin typeface="Menlo" panose="020B0609030804020204" pitchFamily="49" charset="0"/>
              </a:rPr>
              <a:t>Warm-up: </a:t>
            </a:r>
            <a:r>
              <a:rPr lang="en" altLang="zh-CN" sz="1600" b="0" dirty="0">
                <a:solidFill>
                  <a:srgbClr val="3B3B3B"/>
                </a:solidFill>
                <a:effectLst/>
              </a:rPr>
              <a:t>required before any strength or balance block.</a:t>
            </a:r>
            <a:endParaRPr lang="en" altLang="zh-CN" sz="1600" b="0" dirty="0">
              <a:solidFill>
                <a:srgbClr val="0451A5"/>
              </a:solidFill>
              <a:effectLst/>
            </a:endParaRPr>
          </a:p>
          <a:p>
            <a:pPr lvl="1"/>
            <a:r>
              <a:rPr lang="en" altLang="zh-CN" sz="1400" dirty="0">
                <a:solidFill>
                  <a:srgbClr val="3B3B3B"/>
                </a:solidFill>
                <a:latin typeface="Menlo" panose="020B0609030804020204" pitchFamily="49" charset="0"/>
              </a:rPr>
              <a:t>Strength: </a:t>
            </a:r>
            <a:r>
              <a:rPr lang="en" altLang="zh-CN" sz="1600" b="0" dirty="0">
                <a:solidFill>
                  <a:srgbClr val="3B3B3B"/>
                </a:solidFill>
                <a:effectLst/>
              </a:rPr>
              <a:t>three days per week, with at least one non-strength rest day between strength days.</a:t>
            </a:r>
          </a:p>
          <a:p>
            <a:pPr lvl="1"/>
            <a:r>
              <a:rPr lang="en" altLang="zh-CN" sz="1400" dirty="0">
                <a:solidFill>
                  <a:srgbClr val="3B3B3B"/>
                </a:solidFill>
                <a:latin typeface="Menlo" panose="020B0609030804020204" pitchFamily="49" charset="0"/>
              </a:rPr>
              <a:t>Balance: </a:t>
            </a:r>
            <a:r>
              <a:rPr lang="en" altLang="zh-CN" sz="1600" b="0" dirty="0">
                <a:solidFill>
                  <a:srgbClr val="3B3B3B"/>
                </a:solidFill>
                <a:effectLst/>
              </a:rPr>
              <a:t>at least three days per week; it may be performed daily when prescribed.</a:t>
            </a:r>
          </a:p>
          <a:p>
            <a:r>
              <a:rPr lang="en" altLang="zh-CN" sz="1900" dirty="0">
                <a:solidFill>
                  <a:srgbClr val="3B3B3B"/>
                </a:solidFill>
                <a:latin typeface="Menlo" panose="020B0609030804020204" pitchFamily="49" charset="0"/>
              </a:rPr>
              <a:t>Additional Activities</a:t>
            </a:r>
            <a:endParaRPr lang="en" altLang="zh-CN" sz="1600" dirty="0">
              <a:solidFill>
                <a:srgbClr val="3B3B3B"/>
              </a:solidFill>
              <a:latin typeface="Menlo" panose="020B0609030804020204" pitchFamily="49" charset="0"/>
            </a:endParaRPr>
          </a:p>
          <a:p>
            <a:pPr lvl="1"/>
            <a:r>
              <a:rPr lang="en" altLang="zh-CN" sz="1400" dirty="0">
                <a:solidFill>
                  <a:srgbClr val="3B3B3B"/>
                </a:solidFill>
                <a:latin typeface="Menlo" panose="020B0609030804020204" pitchFamily="49" charset="0"/>
              </a:rPr>
              <a:t>Walking Plan</a:t>
            </a:r>
            <a:r>
              <a:rPr lang="zh-CN" altLang="en-US" sz="1400" dirty="0">
                <a:solidFill>
                  <a:srgbClr val="3B3B3B"/>
                </a:solidFill>
                <a:latin typeface="Menlo" panose="020B0609030804020204" pitchFamily="49" charset="0"/>
              </a:rPr>
              <a:t>：</a:t>
            </a:r>
            <a:r>
              <a:rPr lang="en" altLang="zh-CN" sz="1600" dirty="0">
                <a:solidFill>
                  <a:srgbClr val="3B3B3B"/>
                </a:solidFill>
              </a:rPr>
              <a:t>Up to 30 minutes at the usual pace, at least twice per week</a:t>
            </a:r>
          </a:p>
          <a:p>
            <a:pPr lvl="1"/>
            <a:r>
              <a:rPr lang="en" altLang="zh-CN" sz="1400" dirty="0">
                <a:solidFill>
                  <a:srgbClr val="3B3B3B"/>
                </a:solidFill>
                <a:latin typeface="Menlo" panose="020B0609030804020204" pitchFamily="49" charset="0"/>
              </a:rPr>
              <a:t>Stair Walking</a:t>
            </a:r>
            <a:r>
              <a:rPr lang="zh-CN" altLang="en-US" sz="1400" dirty="0">
                <a:solidFill>
                  <a:srgbClr val="3B3B3B"/>
                </a:solidFill>
                <a:latin typeface="Menlo" panose="020B0609030804020204" pitchFamily="49" charset="0"/>
              </a:rPr>
              <a:t>：</a:t>
            </a:r>
            <a:r>
              <a:rPr lang="en" altLang="zh-CN" sz="1600" dirty="0">
                <a:solidFill>
                  <a:srgbClr val="3B3B3B"/>
                </a:solidFill>
              </a:rPr>
              <a:t>Close supervision and handrail support</a:t>
            </a:r>
            <a:endParaRPr kumimoji="1"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978260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162DF98B-A920-D744-AB91-940E9D5A90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5860"/>
            <a:ext cx="4985689" cy="6863860"/>
          </a:xfr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F60B1E3-7718-D349-8922-40927DAF0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255" y="-5860"/>
            <a:ext cx="66251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191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7E286B-C655-2F47-9C03-F9F41AD7B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Updates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C28ADE-C19A-A84A-830F-DEC44370F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86120" cy="4351338"/>
          </a:xfrm>
        </p:spPr>
        <p:txBody>
          <a:bodyPr/>
          <a:lstStyle/>
          <a:p>
            <a:r>
              <a:rPr lang="en-US" altLang="zh-CN" sz="1800" dirty="0">
                <a:solidFill>
                  <a:srgbClr val="3B3B3B"/>
                </a:solidFill>
                <a:latin typeface="Menlo" panose="020B0609030804020204" pitchFamily="49" charset="0"/>
              </a:rPr>
              <a:t>(+)</a:t>
            </a:r>
            <a:r>
              <a:rPr lang="zh-CN" altLang="en-US" sz="18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" altLang="zh-CN" sz="1800" dirty="0" err="1">
                <a:solidFill>
                  <a:srgbClr val="3B3B3B"/>
                </a:solidFill>
                <a:latin typeface="Menlo" panose="020B0609030804020204" pitchFamily="49" charset="0"/>
              </a:rPr>
              <a:t>readiness_check</a:t>
            </a:r>
            <a:endParaRPr lang="en" altLang="zh-CN" sz="1800" dirty="0">
              <a:solidFill>
                <a:srgbClr val="3B3B3B"/>
              </a:solidFill>
              <a:latin typeface="Menlo" panose="020B0609030804020204" pitchFamily="49" charset="0"/>
            </a:endParaRPr>
          </a:p>
          <a:p>
            <a:r>
              <a:rPr lang="en-US" altLang="zh-CN" sz="1800" dirty="0">
                <a:solidFill>
                  <a:srgbClr val="3B3B3B"/>
                </a:solidFill>
                <a:latin typeface="Menlo" panose="020B0609030804020204" pitchFamily="49" charset="0"/>
              </a:rPr>
              <a:t>(+)</a:t>
            </a:r>
            <a:r>
              <a:rPr lang="zh-CN" altLang="en-US" sz="18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" altLang="zh-CN" sz="1800" dirty="0">
                <a:solidFill>
                  <a:srgbClr val="3B3B3B"/>
                </a:solidFill>
                <a:latin typeface="Menlo" panose="020B0609030804020204" pitchFamily="49" charset="0"/>
              </a:rPr>
              <a:t>skip exercise</a:t>
            </a:r>
          </a:p>
          <a:p>
            <a:r>
              <a:rPr lang="en-US" altLang="zh-CN" sz="1800" dirty="0">
                <a:solidFill>
                  <a:srgbClr val="3B3B3B"/>
                </a:solidFill>
                <a:latin typeface="Menlo" panose="020B0609030804020204" pitchFamily="49" charset="0"/>
              </a:rPr>
              <a:t>(+)</a:t>
            </a:r>
            <a:r>
              <a:rPr lang="zh-CN" altLang="en-US" sz="18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  <a:r>
              <a:rPr lang="en" altLang="zh-CN" sz="1800" dirty="0">
                <a:solidFill>
                  <a:srgbClr val="3B3B3B"/>
                </a:solidFill>
                <a:latin typeface="Menlo" panose="020B0609030804020204" pitchFamily="49" charset="0"/>
              </a:rPr>
              <a:t>form-correction </a:t>
            </a:r>
          </a:p>
          <a:p>
            <a:r>
              <a:rPr lang="en-US" altLang="zh-CN" sz="1800" dirty="0">
                <a:solidFill>
                  <a:srgbClr val="3B3B3B"/>
                </a:solidFill>
                <a:latin typeface="Menlo" panose="020B0609030804020204" pitchFamily="49" charset="0"/>
              </a:rPr>
              <a:t>(-) </a:t>
            </a:r>
            <a:r>
              <a:rPr lang="en" altLang="zh-CN" sz="1800" dirty="0" err="1">
                <a:solidFill>
                  <a:srgbClr val="3B3B3B"/>
                </a:solidFill>
                <a:latin typeface="Menlo" panose="020B0609030804020204" pitchFamily="49" charset="0"/>
              </a:rPr>
              <a:t>plan_update</a:t>
            </a:r>
            <a:endParaRPr lang="en" altLang="zh-CN" sz="1800" dirty="0">
              <a:solidFill>
                <a:srgbClr val="3B3B3B"/>
              </a:solidFill>
              <a:latin typeface="Menlo" panose="020B0609030804020204" pitchFamily="49" charset="0"/>
            </a:endParaRPr>
          </a:p>
          <a:p>
            <a:r>
              <a:rPr lang="en-US" altLang="zh-CN" sz="1800" dirty="0">
                <a:solidFill>
                  <a:srgbClr val="3B3B3B"/>
                </a:solidFill>
                <a:latin typeface="Menlo" panose="020B0609030804020204" pitchFamily="49" charset="0"/>
              </a:rPr>
              <a:t>(+) safe routes to </a:t>
            </a:r>
            <a:r>
              <a:rPr lang="en" altLang="zh-CN" sz="1800" dirty="0" err="1">
                <a:solidFill>
                  <a:srgbClr val="3B3B3B"/>
                </a:solidFill>
                <a:latin typeface="Menlo" panose="020B0609030804020204" pitchFamily="49" charset="0"/>
              </a:rPr>
              <a:t>stop_session</a:t>
            </a:r>
            <a:endParaRPr lang="en-US" altLang="zh-CN" sz="1800" dirty="0">
              <a:solidFill>
                <a:srgbClr val="3B3B3B"/>
              </a:solidFill>
              <a:latin typeface="Menlo" panose="020B0609030804020204" pitchFamily="49" charset="0"/>
            </a:endParaRPr>
          </a:p>
          <a:p>
            <a:r>
              <a:rPr lang="en-US" altLang="zh-CN" sz="1800" dirty="0">
                <a:solidFill>
                  <a:srgbClr val="3B3B3B"/>
                </a:solidFill>
                <a:latin typeface="Menlo" panose="020B0609030804020204" pitchFamily="49" charset="0"/>
              </a:rPr>
              <a:t>(+) </a:t>
            </a:r>
            <a:r>
              <a:rPr lang="en" altLang="zh-CN" sz="1800" dirty="0" err="1">
                <a:solidFill>
                  <a:srgbClr val="3B3B3B"/>
                </a:solidFill>
                <a:latin typeface="Menlo" panose="020B0609030804020204" pitchFamily="49" charset="0"/>
              </a:rPr>
              <a:t>session_review_and_log</a:t>
            </a:r>
            <a:r>
              <a:rPr lang="en" altLang="zh-CN" sz="1800" dirty="0">
                <a:solidFill>
                  <a:srgbClr val="3B3B3B"/>
                </a:solidFill>
                <a:latin typeface="Menlo" panose="020B0609030804020204" pitchFamily="49" charset="0"/>
              </a:rPr>
              <a:t> </a:t>
            </a:r>
          </a:p>
          <a:p>
            <a:r>
              <a:rPr lang="en-US" altLang="zh-CN" sz="1800" dirty="0">
                <a:solidFill>
                  <a:srgbClr val="3B3B3B"/>
                </a:solidFill>
                <a:latin typeface="Menlo" panose="020B0609030804020204" pitchFamily="49" charset="0"/>
              </a:rPr>
              <a:t>(-) </a:t>
            </a:r>
            <a:r>
              <a:rPr lang="en" altLang="zh-CN" sz="1800" dirty="0" err="1">
                <a:solidFill>
                  <a:srgbClr val="3B3B3B"/>
                </a:solidFill>
                <a:latin typeface="Menlo" panose="020B0609030804020204" pitchFamily="49" charset="0"/>
              </a:rPr>
              <a:t>cooldown_stretch</a:t>
            </a:r>
            <a:endParaRPr lang="zh-CN" altLang="en-US" sz="1800" dirty="0">
              <a:solidFill>
                <a:srgbClr val="3B3B3B"/>
              </a:solidFill>
              <a:latin typeface="Menlo" panose="020B0609030804020204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D78C3BF-7BAE-5A45-B929-7EDF7D454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255" y="-5860"/>
            <a:ext cx="66251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597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AEF07-3ACA-A341-BA0E-0756B5983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Motion Sequences – Warm Up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FB4D34-5F11-6649-9CDB-3FE87F8AD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" altLang="zh-CN" sz="1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three breathing cycles</a:t>
            </a:r>
          </a:p>
          <a:p>
            <a:r>
              <a:rPr lang="en" altLang="zh-CN" sz="1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-&gt; head movements</a:t>
            </a:r>
          </a:p>
          <a:p>
            <a:r>
              <a:rPr lang="en" altLang="zh-CN" sz="1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-&gt; neck movements</a:t>
            </a:r>
          </a:p>
          <a:p>
            <a:r>
              <a:rPr lang="en" altLang="zh-CN" sz="1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-&gt; trunk movements</a:t>
            </a:r>
          </a:p>
          <a:p>
            <a:r>
              <a:rPr lang="en" altLang="zh-CN" sz="1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-&gt; ankle movements</a:t>
            </a:r>
          </a:p>
          <a:p>
            <a:r>
              <a:rPr lang="en" altLang="zh-CN" sz="1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-&gt; back extension</a:t>
            </a:r>
          </a:p>
          <a:p>
            <a:pPr marL="0" indent="0">
              <a:buNone/>
            </a:pPr>
            <a:endParaRPr kumimoji="1"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56898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AEF07-3ACA-A341-BA0E-0756B5983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Motion Sequences – Strength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FB4D34-5F11-6649-9CDB-3FE87F8AD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" altLang="zh-CN" sz="1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front knee strengthening </a:t>
            </a:r>
          </a:p>
          <a:p>
            <a:r>
              <a:rPr lang="en" altLang="zh-CN" sz="1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→ side hip strengthening </a:t>
            </a:r>
          </a:p>
          <a:p>
            <a:r>
              <a:rPr lang="en" altLang="zh-CN" sz="1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→ back knee strengthening </a:t>
            </a:r>
          </a:p>
          <a:p>
            <a:r>
              <a:rPr lang="en" altLang="zh-CN" sz="1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→ calf raises </a:t>
            </a:r>
          </a:p>
          <a:p>
            <a:r>
              <a:rPr lang="en" altLang="zh-CN" sz="1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→ toe raises</a:t>
            </a:r>
          </a:p>
          <a:p>
            <a:pPr marL="0" indent="0">
              <a:buNone/>
            </a:pPr>
            <a:endParaRPr kumimoji="1"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12950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AEF07-3ACA-A341-BA0E-0756B5983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Motion Sequences – Balance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FB4D34-5F11-6649-9CDB-3FE87F8AD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825625"/>
            <a:ext cx="12049760" cy="2380615"/>
          </a:xfrm>
        </p:spPr>
        <p:txBody>
          <a:bodyPr numCol="2">
            <a:normAutofit/>
          </a:bodyPr>
          <a:lstStyle/>
          <a:p>
            <a:r>
              <a:rPr lang="en" altLang="zh-CN" sz="1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knee bends </a:t>
            </a:r>
          </a:p>
          <a:p>
            <a:r>
              <a:rPr lang="en" altLang="zh-CN" sz="1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→ backward walking </a:t>
            </a:r>
          </a:p>
          <a:p>
            <a:r>
              <a:rPr lang="en" altLang="zh-CN" sz="1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→ walking and turning in a figure-eight </a:t>
            </a:r>
          </a:p>
          <a:p>
            <a:r>
              <a:rPr lang="en" altLang="zh-CN" sz="1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→ sideways walking </a:t>
            </a:r>
          </a:p>
          <a:p>
            <a:r>
              <a:rPr lang="en" altLang="zh-CN" sz="1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→ heel-to-toe standing </a:t>
            </a:r>
          </a:p>
          <a:p>
            <a:r>
              <a:rPr lang="en" altLang="zh-CN" sz="1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→ heel-to-toe walking </a:t>
            </a:r>
          </a:p>
          <a:p>
            <a:r>
              <a:rPr lang="en" altLang="zh-CN" sz="1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→ one-leg standing </a:t>
            </a:r>
          </a:p>
          <a:p>
            <a:r>
              <a:rPr lang="en" altLang="zh-CN" sz="1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→ heel walking </a:t>
            </a:r>
          </a:p>
          <a:p>
            <a:r>
              <a:rPr lang="en" altLang="zh-CN" sz="1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→ toe walking </a:t>
            </a:r>
          </a:p>
          <a:p>
            <a:r>
              <a:rPr lang="en" altLang="zh-CN" sz="1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→ heel-to-toe walking backward </a:t>
            </a:r>
          </a:p>
          <a:p>
            <a:r>
              <a:rPr lang="en" altLang="zh-CN" sz="1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→ sit-to-stand </a:t>
            </a:r>
          </a:p>
          <a:p>
            <a:r>
              <a:rPr lang="en" altLang="zh-CN" sz="18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→ stair walking</a:t>
            </a:r>
            <a:endParaRPr kumimoji="1"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012845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AEF07-3ACA-A341-BA0E-0756B5983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Motion-Detection Challenges</a:t>
            </a:r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7EBDA5E-CCE2-9B4F-88B5-F64BB0C1F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240562"/>
            <a:ext cx="5867483" cy="26424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D6E42C8-FEDF-4640-A2A2-E309441B1442}"/>
              </a:ext>
            </a:extLst>
          </p:cNvPr>
          <p:cNvSpPr txBox="1"/>
          <p:nvPr/>
        </p:nvSpPr>
        <p:spPr>
          <a:xfrm>
            <a:off x="693146" y="1545424"/>
            <a:ext cx="5254965" cy="6032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1. Hands/Foot Support Level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2H = two-hand support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1H = one-hand support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NS = no support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One-leg stand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zh-CN" dirty="0">
              <a:solidFill>
                <a:srgbClr val="3B3B3B"/>
              </a:solidFill>
              <a:latin typeface="Menlo" panose="020B0609030804020204" pitchFamily="49" charset="0"/>
            </a:endParaRPr>
          </a:p>
          <a:p>
            <a:r>
              <a:rPr lang="en" altLang="zh-CN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2. Reliable heel and toe landmarks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Heel/toe stand and heel/toe walking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rgbClr val="3B3B3B"/>
                </a:solidFill>
                <a:latin typeface="Menlo" panose="020B0609030804020204" pitchFamily="49" charset="0"/>
              </a:rPr>
              <a:t>Forwards and backwards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rgbClr val="3B3B3B"/>
                </a:solidFill>
                <a:latin typeface="Menlo" panose="020B0609030804020204" pitchFamily="49" charset="0"/>
              </a:rPr>
              <a:t>T</a:t>
            </a:r>
            <a:r>
              <a:rPr lang="en" altLang="zh-CN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oe raises</a:t>
            </a:r>
            <a:endParaRPr lang="en" altLang="zh-CN" sz="1600" dirty="0">
              <a:solidFill>
                <a:srgbClr val="3B3B3B"/>
              </a:solidFill>
              <a:latin typeface="Menlo" panose="020B0609030804020204" pitchFamily="49" charset="0"/>
            </a:endParaRPr>
          </a:p>
          <a:p>
            <a:endParaRPr lang="en" altLang="zh-CN" sz="1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3. </a:t>
            </a:r>
            <a:r>
              <a:rPr lang="en" altLang="zh-CN" dirty="0">
                <a:solidFill>
                  <a:srgbClr val="3B3B3B"/>
                </a:solidFill>
                <a:latin typeface="Menlo" panose="020B0609030804020204" pitchFamily="49" charset="0"/>
              </a:rPr>
              <a:t>Foot T</a:t>
            </a:r>
            <a:r>
              <a:rPr lang="en" altLang="zh-CN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rajectory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Menlo" panose="020B0609030804020204" pitchFamily="49" charset="0"/>
                <a:ea typeface="等线" panose="02010600030101010101" pitchFamily="2" charset="-122"/>
                <a:cs typeface="+mn-cs"/>
              </a:rPr>
              <a:t>Figure-eight trajectory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" altLang="zh-CN" sz="1600" dirty="0">
                <a:solidFill>
                  <a:srgbClr val="3B3B3B"/>
                </a:solidFill>
                <a:latin typeface="Menlo" panose="020B0609030804020204" pitchFamily="49" charset="0"/>
              </a:rPr>
              <a:t>T</a:t>
            </a:r>
            <a:r>
              <a:rPr lang="en" altLang="zh-CN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andem steps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Menlo" panose="020B0609030804020204" pitchFamily="49" charset="0"/>
              <a:ea typeface="等线" panose="02010600030101010101" pitchFamily="2" charset="-122"/>
              <a:cs typeface="+mn-cs"/>
            </a:endParaRPr>
          </a:p>
          <a:p>
            <a:r>
              <a:rPr lang="en" altLang="zh-CN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4. Behavior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Detection</a:t>
            </a:r>
            <a:endParaRPr lang="en" altLang="zh-CN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controlled recovery / a near fall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unexpected hand / foot support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Unobservable safety signals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" altLang="zh-CN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endParaRPr lang="en" altLang="zh-CN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endParaRPr lang="en" altLang="zh-CN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6706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337</Words>
  <Application>Microsoft Macintosh PowerPoint</Application>
  <PresentationFormat>宽屏</PresentationFormat>
  <Paragraphs>70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Arial</vt:lpstr>
      <vt:lpstr>Menlo</vt:lpstr>
      <vt:lpstr>Office 主题​​</vt:lpstr>
      <vt:lpstr>Otago Home-Exercise Sessions State Machine Design</vt:lpstr>
      <vt:lpstr>52-Week Otago Program</vt:lpstr>
      <vt:lpstr>PowerPoint 演示文稿</vt:lpstr>
      <vt:lpstr>Updates</vt:lpstr>
      <vt:lpstr>Motion Sequences – Warm Up</vt:lpstr>
      <vt:lpstr>Motion Sequences – Strength</vt:lpstr>
      <vt:lpstr>Motion Sequences – Balance</vt:lpstr>
      <vt:lpstr>Motion-Detection 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Otago Home-Exercise State Machine</dc:title>
  <dc:creator>zy jin</dc:creator>
  <cp:lastModifiedBy>zy jin</cp:lastModifiedBy>
  <cp:revision>31</cp:revision>
  <dcterms:created xsi:type="dcterms:W3CDTF">2026-08-27T16:13:51Z</dcterms:created>
  <dcterms:modified xsi:type="dcterms:W3CDTF">2026-08-28T00:53:12Z</dcterms:modified>
</cp:coreProperties>
</file>